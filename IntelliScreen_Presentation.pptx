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67" r:id="rId6"/>
    <p:sldId id="259" r:id="rId7"/>
    <p:sldId id="260" r:id="rId8"/>
    <p:sldId id="261" r:id="rId9"/>
    <p:sldId id="268" r:id="rId10"/>
    <p:sldId id="262" r:id="rId11"/>
    <p:sldId id="263" r:id="rId13"/>
    <p:sldId id="273" r:id="rId23"/>
    <p:sldId id="264" r:id="rId14"/>
    <p:sldId id="271" r:id="rId15"/>
    <p:sldId id="272" r:id="rId16"/>
    <p:sldId id="270" r:id="rId17"/>
    <p:sldId id="265" r:id="rId18"/>
    <p:sldId id="266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96" d="100"/>
          <a:sy n="96" d="100"/>
        </p:scale>
        <p:origin x="149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809D0C-CD08-45D5-B63F-A1CB81D15F99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0EA24-F0A6-4E03-8E15-6BBDD0C8D44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0EA24-F0A6-4E03-8E15-6BBDD0C8D441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46B0FA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46B0FA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46B0FA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46B0FA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image" Target="../media/image1.jpeg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8852" y="86497"/>
            <a:ext cx="11998960" cy="6685280"/>
          </a:xfrm>
          <a:custGeom>
            <a:avLst/>
            <a:gdLst/>
            <a:ahLst/>
            <a:cxnLst/>
            <a:rect l="l" t="t" r="r" b="b"/>
            <a:pathLst>
              <a:path w="11998960" h="6685280">
                <a:moveTo>
                  <a:pt x="0" y="0"/>
                </a:moveTo>
                <a:lnTo>
                  <a:pt x="11998411" y="0"/>
                </a:lnTo>
                <a:lnTo>
                  <a:pt x="11998411" y="6685005"/>
                </a:lnTo>
                <a:lnTo>
                  <a:pt x="0" y="6685005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46B0F9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838654" y="170382"/>
            <a:ext cx="1185551" cy="40057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3227" y="219603"/>
            <a:ext cx="3413760" cy="539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46B0FA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70857" y="2802296"/>
            <a:ext cx="9650285" cy="1412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668000" y="150470"/>
            <a:ext cx="1381760" cy="683260"/>
          </a:xfrm>
          <a:custGeom>
            <a:avLst/>
            <a:gdLst/>
            <a:ahLst/>
            <a:cxnLst/>
            <a:rect l="l" t="t" r="r" b="b"/>
            <a:pathLst>
              <a:path w="1381759" h="683260">
                <a:moveTo>
                  <a:pt x="1381245" y="0"/>
                </a:moveTo>
                <a:lnTo>
                  <a:pt x="0" y="0"/>
                </a:lnTo>
                <a:lnTo>
                  <a:pt x="0" y="682906"/>
                </a:lnTo>
                <a:lnTo>
                  <a:pt x="1381245" y="682906"/>
                </a:lnTo>
                <a:lnTo>
                  <a:pt x="13812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04828" y="126107"/>
            <a:ext cx="876169" cy="14916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85016" y="143687"/>
            <a:ext cx="4564227" cy="1474097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903173" y="1499340"/>
            <a:ext cx="44075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000000"/>
                </a:solidFill>
              </a:rPr>
              <a:t>Minor</a:t>
            </a:r>
            <a:r>
              <a:rPr sz="5400" spc="-145" dirty="0">
                <a:solidFill>
                  <a:srgbClr val="000000"/>
                </a:solidFill>
              </a:rPr>
              <a:t> </a:t>
            </a:r>
            <a:r>
              <a:rPr sz="5400" spc="-10" dirty="0">
                <a:solidFill>
                  <a:srgbClr val="000000"/>
                </a:solidFill>
              </a:rPr>
              <a:t>Project</a:t>
            </a:r>
            <a:endParaRPr sz="540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065" marR="5080" algn="ctr">
              <a:lnSpc>
                <a:spcPts val="3600"/>
              </a:lnSpc>
              <a:spcBef>
                <a:spcPts val="320"/>
              </a:spcBef>
            </a:pPr>
            <a:r>
              <a:t>IntelliScreen: Context-Aware AI Proctoring &amp; Assessment Platform</a:t>
            </a:r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383568" y="5011785"/>
            <a:ext cx="3274032" cy="12311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60"/>
              </a:lnSpc>
              <a:spcBef>
                <a:spcPts val="100"/>
              </a:spcBef>
            </a:pPr>
            <a:r>
              <a:rPr sz="1600" b="1" dirty="0">
                <a:latin typeface="Arial" panose="020B0604020202020204"/>
                <a:cs typeface="Arial" panose="020B0604020202020204"/>
              </a:rPr>
              <a:t>Presented</a:t>
            </a:r>
            <a:r>
              <a:rPr sz="16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600" b="1" spc="-25" dirty="0">
                <a:latin typeface="Arial" panose="020B0604020202020204"/>
                <a:cs typeface="Arial" panose="020B0604020202020204"/>
              </a:rPr>
              <a:t>by:</a:t>
            </a:r>
            <a:endParaRPr lang="en-US" sz="1600" b="1" spc="-25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860"/>
              </a:lnSpc>
              <a:spcBef>
                <a:spcPts val="100"/>
              </a:spcBef>
            </a:pPr>
            <a:r>
              <a:rPr lang="en-IN" sz="1600" dirty="0">
                <a:latin typeface="Arial MT"/>
                <a:cs typeface="Arial MT"/>
              </a:rPr>
              <a:t>R2142231198</a:t>
            </a:r>
            <a:r>
              <a:rPr lang="en-IN" sz="1600" spc="370" dirty="0">
                <a:latin typeface="Arial MT"/>
                <a:cs typeface="Arial MT"/>
              </a:rPr>
              <a:t> </a:t>
            </a:r>
            <a:r>
              <a:rPr lang="en-IN" sz="1600" dirty="0">
                <a:latin typeface="Arial MT"/>
                <a:cs typeface="Arial MT"/>
              </a:rPr>
              <a:t>-</a:t>
            </a:r>
            <a:r>
              <a:rPr lang="en-IN" sz="1600" spc="-45" dirty="0">
                <a:latin typeface="Arial MT"/>
                <a:cs typeface="Arial MT"/>
              </a:rPr>
              <a:t> </a:t>
            </a:r>
            <a:r>
              <a:rPr lang="en-IN" sz="1600" dirty="0">
                <a:latin typeface="Arial MT"/>
                <a:cs typeface="Arial MT"/>
              </a:rPr>
              <a:t>Harsh</a:t>
            </a:r>
            <a:r>
              <a:rPr lang="en-IN" sz="1600" spc="-40" dirty="0">
                <a:latin typeface="Arial MT"/>
                <a:cs typeface="Arial MT"/>
              </a:rPr>
              <a:t> </a:t>
            </a:r>
            <a:r>
              <a:rPr lang="en-IN" sz="1600" spc="-20" dirty="0">
                <a:latin typeface="Arial MT"/>
                <a:cs typeface="Arial MT"/>
              </a:rPr>
              <a:t>Kumar</a:t>
            </a:r>
            <a:endParaRPr sz="1600" dirty="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ts val="18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R2142230855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-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Sahil</a:t>
            </a:r>
            <a:r>
              <a:rPr sz="1600" spc="-9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Agarwal </a:t>
            </a:r>
            <a:r>
              <a:rPr sz="1600" dirty="0">
                <a:latin typeface="Arial MT"/>
                <a:cs typeface="Arial MT"/>
              </a:rPr>
              <a:t>R2142230254</a:t>
            </a:r>
            <a:r>
              <a:rPr sz="1600" spc="4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-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Omkar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Jha </a:t>
            </a:r>
            <a:endParaRPr lang="en-US" sz="1600" spc="-25" dirty="0">
              <a:latin typeface="Arial MT"/>
              <a:cs typeface="Arial MT"/>
            </a:endParaRPr>
          </a:p>
          <a:p>
            <a:pPr marL="12700" marR="5080">
              <a:lnSpc>
                <a:spcPts val="1800"/>
              </a:lnSpc>
              <a:spcBef>
                <a:spcPts val="100"/>
              </a:spcBef>
            </a:pPr>
            <a:r>
              <a:rPr lang="en-IN" sz="1600" dirty="0">
                <a:latin typeface="Arial MT"/>
                <a:cs typeface="Arial MT"/>
              </a:rPr>
              <a:t>R2142230676 - Nishkarsh Gupta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61483" y="5011785"/>
            <a:ext cx="207010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60"/>
              </a:lnSpc>
              <a:spcBef>
                <a:spcPts val="100"/>
              </a:spcBef>
            </a:pPr>
            <a:r>
              <a:rPr b="1" dirty="0">
                <a:latin typeface="+mn-lt"/>
                <a:cs typeface="Arial" panose="020B0604020202020204"/>
              </a:rPr>
              <a:t>Mentored</a:t>
            </a:r>
            <a:r>
              <a:rPr b="1" spc="-65" dirty="0">
                <a:latin typeface="+mn-lt"/>
                <a:cs typeface="Arial" panose="020B0604020202020204"/>
              </a:rPr>
              <a:t> </a:t>
            </a:r>
            <a:r>
              <a:rPr b="1" spc="-25" dirty="0">
                <a:latin typeface="+mn-lt"/>
                <a:cs typeface="Arial" panose="020B0604020202020204"/>
              </a:rPr>
              <a:t>By</a:t>
            </a:r>
            <a:endParaRPr dirty="0">
              <a:latin typeface="+mn-lt"/>
              <a:cs typeface="Arial" panose="020B0604020202020204"/>
            </a:endParaRPr>
          </a:p>
          <a:p>
            <a:pPr marL="12700">
              <a:lnSpc>
                <a:spcPts val="1860"/>
              </a:lnSpc>
            </a:pPr>
            <a:r>
              <a:rPr lang="en-IN" dirty="0">
                <a:latin typeface="+mn-lt"/>
                <a:cs typeface="Arial MT"/>
              </a:rPr>
              <a:t>Dr. </a:t>
            </a:r>
            <a:r>
              <a:rPr lang="en-IN" dirty="0" err="1">
                <a:latin typeface="+mn-lt"/>
                <a:cs typeface="Arial MT"/>
              </a:rPr>
              <a:t>Baldivya</a:t>
            </a:r>
            <a:r>
              <a:rPr lang="en-IN" dirty="0">
                <a:latin typeface="+mn-lt"/>
                <a:cs typeface="Arial MT"/>
              </a:rPr>
              <a:t> </a:t>
            </a:r>
            <a:r>
              <a:rPr lang="en-IN" dirty="0">
                <a:latin typeface="Arial MT"/>
                <a:cs typeface="Arial MT"/>
              </a:rPr>
              <a:t>Mitra</a:t>
            </a:r>
            <a:endParaRPr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78993" y="533400"/>
            <a:ext cx="952921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40" algn="ctr">
              <a:lnSpc>
                <a:spcPct val="100000"/>
              </a:lnSpc>
              <a:spcBef>
                <a:spcPts val="100"/>
              </a:spcBef>
            </a:pPr>
            <a:r>
              <a:rPr lang="en-US" sz="3600" spc="-10" dirty="0"/>
              <a:t>Table of </a:t>
            </a:r>
            <a:r>
              <a:rPr sz="3600" spc="-10" dirty="0"/>
              <a:t>Content</a:t>
            </a:r>
            <a:r>
              <a:rPr lang="en-US" sz="3600" spc="-10" dirty="0"/>
              <a:t>s</a:t>
            </a:r>
            <a:endParaRPr sz="36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85800" y="1424605"/>
            <a:ext cx="10515600" cy="401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095" indent="-239395">
              <a:lnSpc>
                <a:spcPct val="100000"/>
              </a:lnSpc>
              <a:spcBef>
                <a:spcPts val="100"/>
              </a:spcBef>
              <a:buChar char="•"/>
              <a:tabLst>
                <a:tab pos="252095" algn="l"/>
              </a:tabLst>
            </a:pPr>
            <a:r>
              <a:rPr sz="2400" spc="-10" dirty="0">
                <a:latin typeface="Arial MT"/>
                <a:cs typeface="Arial MT"/>
              </a:rPr>
              <a:t>Introduction</a:t>
            </a:r>
            <a:endParaRPr lang="en-US" sz="2400" spc="-1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2095" algn="l"/>
              </a:tabLst>
            </a:pPr>
            <a:endParaRPr lang="en-US" sz="2400" spc="-10" dirty="0">
              <a:latin typeface="Arial MT"/>
              <a:cs typeface="Arial MT"/>
            </a:endParaRPr>
          </a:p>
          <a:p>
            <a:pPr marL="252095" indent="-239395">
              <a:lnSpc>
                <a:spcPct val="100000"/>
              </a:lnSpc>
              <a:spcBef>
                <a:spcPts val="100"/>
              </a:spcBef>
              <a:buChar char="•"/>
              <a:tabLst>
                <a:tab pos="252095" algn="l"/>
              </a:tabLst>
            </a:pPr>
            <a:r>
              <a:rPr lang="en-IN" sz="2400" spc="-10" dirty="0">
                <a:latin typeface="Arial MT"/>
                <a:cs typeface="Arial MT"/>
              </a:rPr>
              <a:t>Problem Statement</a:t>
            </a:r>
            <a:endParaRPr sz="2400" dirty="0">
              <a:latin typeface="Arial MT"/>
              <a:cs typeface="Arial MT"/>
            </a:endParaRPr>
          </a:p>
          <a:p>
            <a:pPr marL="252095" indent="-239395">
              <a:lnSpc>
                <a:spcPct val="100000"/>
              </a:lnSpc>
              <a:spcBef>
                <a:spcPts val="2720"/>
              </a:spcBef>
              <a:buChar char="•"/>
              <a:tabLst>
                <a:tab pos="252095" algn="l"/>
              </a:tabLst>
            </a:pPr>
            <a:r>
              <a:rPr sz="2400" dirty="0">
                <a:latin typeface="Arial MT"/>
                <a:cs typeface="Arial MT"/>
              </a:rPr>
              <a:t>Literature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Review</a:t>
            </a:r>
            <a:endParaRPr sz="2400" dirty="0">
              <a:latin typeface="Arial MT"/>
              <a:cs typeface="Arial MT"/>
            </a:endParaRPr>
          </a:p>
          <a:p>
            <a:pPr marL="252095" indent="-239395">
              <a:lnSpc>
                <a:spcPct val="100000"/>
              </a:lnSpc>
              <a:spcBef>
                <a:spcPts val="2720"/>
              </a:spcBef>
              <a:buChar char="•"/>
              <a:tabLst>
                <a:tab pos="252095" algn="l"/>
              </a:tabLst>
            </a:pPr>
            <a:r>
              <a:rPr sz="2400" spc="-10" dirty="0">
                <a:latin typeface="Arial MT"/>
                <a:cs typeface="Arial MT"/>
              </a:rPr>
              <a:t>Objectives</a:t>
            </a:r>
            <a:endParaRPr sz="2400" dirty="0">
              <a:latin typeface="Arial MT"/>
              <a:cs typeface="Arial MT"/>
            </a:endParaRPr>
          </a:p>
          <a:p>
            <a:pPr marL="252095" indent="-239395">
              <a:lnSpc>
                <a:spcPct val="100000"/>
              </a:lnSpc>
              <a:spcBef>
                <a:spcPts val="2720"/>
              </a:spcBef>
              <a:buChar char="•"/>
              <a:tabLst>
                <a:tab pos="252095" algn="l"/>
              </a:tabLst>
            </a:pPr>
            <a:r>
              <a:rPr sz="2400" spc="-10" dirty="0">
                <a:latin typeface="Arial MT"/>
                <a:cs typeface="Arial MT"/>
              </a:rPr>
              <a:t>Methodology</a:t>
            </a:r>
            <a:endParaRPr sz="2400" dirty="0">
              <a:latin typeface="Arial MT"/>
              <a:cs typeface="Arial MT"/>
            </a:endParaRPr>
          </a:p>
          <a:p>
            <a:pPr marL="252095" indent="-239395">
              <a:lnSpc>
                <a:spcPct val="100000"/>
              </a:lnSpc>
              <a:spcBef>
                <a:spcPts val="2720"/>
              </a:spcBef>
              <a:buChar char="•"/>
              <a:tabLst>
                <a:tab pos="252095" algn="l"/>
              </a:tabLst>
            </a:pPr>
            <a:r>
              <a:rPr sz="2400" spc="-10" dirty="0">
                <a:latin typeface="Arial MT"/>
                <a:cs typeface="Arial MT"/>
              </a:rPr>
              <a:t>References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89120" y="418032"/>
            <a:ext cx="34137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40" algn="ctr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Arial MT"/>
              </a:rPr>
              <a:t>Introduction</a:t>
            </a:r>
            <a:endParaRPr sz="3600" spc="-10" dirty="0">
              <a:latin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990609"/>
            <a:ext cx="11036447" cy="5149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Project Overview</a:t>
            </a:r>
          </a:p>
          <a:p/>
          <a:p>
            <a:r>
              <a:t>• IntelliScreen is a context-aware, AI-powered online examination and proctoring platform designed specifically for secure, large-scale remote assessments (such as MCQs and text-based exams).</a:t>
            </a:r>
          </a:p>
          <a:p>
            <a:r>
              <a:t>• It operates using a scalable microservice architecture to ensure maximum privacy, high concurrency, and ultra-low latency.</a:t>
            </a:r>
          </a:p>
          <a:p>
            <a:r>
              <a:t>• Unlike legacy systems, IntelliScreen evaluates candidate behavior using a unique temporal sliding window rather than strict, instantaneous rule-based bans, minimizing false alarms from natural cognitive behaviors.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89120" y="418032"/>
            <a:ext cx="34137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40" algn="ctr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Arial MT"/>
              </a:rPr>
              <a:t>Introduction</a:t>
            </a:r>
            <a:endParaRPr sz="3600" spc="-10" dirty="0">
              <a:latin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143009"/>
            <a:ext cx="11036447" cy="4918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Arial MT"/>
              </a:rPr>
              <a:t>Motivation</a:t>
            </a:r>
            <a:endParaRPr lang="en-IN" sz="2400" b="1" dirty="0">
              <a:latin typeface="Arial MT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t>Remote hiring and online education at scale make manual proctoring heavily inefficient.</a:t>
            </a:r>
            <a:endParaRPr lang="en-IN" sz="18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Traditional proctoring often </a:t>
            </a:r>
            <a:r>
              <a:rPr lang="en-IN" sz="1800" b="1" dirty="0"/>
              <a:t>misinterprets natural cognitive </a:t>
            </a:r>
            <a:r>
              <a:rPr lang="en-IN" sz="1800" b="1" dirty="0" err="1"/>
              <a:t>behavior</a:t>
            </a:r>
            <a:r>
              <a:rPr lang="en-IN" sz="1800" dirty="0"/>
              <a:t> as cheating.</a:t>
            </a:r>
            <a:endParaRPr lang="en-IN" sz="18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t>Need for context-aware screening combining visual behavior with temporal reasoning to prevent false bans.</a:t>
            </a:r>
            <a:endParaRPr lang="en-IN" sz="18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400" b="1" dirty="0"/>
              <a:t>Problem Statement</a:t>
            </a:r>
            <a:endParaRPr lang="en-IN" sz="2400" b="1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/>
              <a:t>High false alarm rates caused by instantaneous thresholding without time-window smoothing.</a:t>
            </a:r>
            <a:endParaRPr lang="en-US" altLang="en-US" sz="18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/>
              <a:t>Lack of explainability (educators receive a binary "cheating suspected" label without an auditable breakdown).</a:t>
            </a:r>
            <a:endParaRPr lang="en-US" altLang="en-US" sz="18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t>Inability to correlate concurrent visual signals to accurately determine malpractice severity.</a:t>
            </a:r>
            <a:endParaRPr lang="en-US" altLang="en-US" sz="1800" dirty="0"/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14800" y="368050"/>
            <a:ext cx="34137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40" algn="ctr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Introduction</a:t>
            </a:r>
            <a:endParaRPr sz="36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38628" y="1065672"/>
            <a:ext cx="444870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 MT"/>
                <a:cs typeface="Arial" panose="020B0604020202020204"/>
              </a:rPr>
              <a:t>Area</a:t>
            </a:r>
            <a:r>
              <a:rPr sz="2400" b="1" spc="-30" dirty="0">
                <a:latin typeface="Arial MT"/>
                <a:cs typeface="Arial" panose="020B0604020202020204"/>
              </a:rPr>
              <a:t> </a:t>
            </a:r>
            <a:r>
              <a:rPr sz="2400" b="1" dirty="0">
                <a:latin typeface="Arial MT"/>
                <a:cs typeface="Arial" panose="020B0604020202020204"/>
              </a:rPr>
              <a:t>of</a:t>
            </a:r>
            <a:r>
              <a:rPr sz="2400" b="1" spc="-100" dirty="0">
                <a:latin typeface="Arial MT"/>
                <a:cs typeface="Arial" panose="020B0604020202020204"/>
              </a:rPr>
              <a:t> </a:t>
            </a:r>
            <a:r>
              <a:rPr sz="2400" b="1" spc="-10" dirty="0">
                <a:latin typeface="Arial MT"/>
                <a:cs typeface="Arial" panose="020B0604020202020204"/>
              </a:rPr>
              <a:t>Application</a:t>
            </a:r>
            <a:endParaRPr sz="2400" dirty="0">
              <a:latin typeface="Arial MT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872" y="1523913"/>
            <a:ext cx="9652000" cy="211010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30200" marR="5080" indent="-317500">
              <a:lnSpc>
                <a:spcPts val="2300"/>
              </a:lnSpc>
              <a:spcBef>
                <a:spcPts val="260"/>
              </a:spcBef>
              <a:buChar char="•"/>
              <a:tabLst>
                <a:tab pos="330200" algn="l"/>
              </a:tabLst>
            </a:pPr>
            <a:r>
              <a:rPr sz="1800" b="1" dirty="0">
                <a:latin typeface="Arial" panose="020B0604020202020204" pitchFamily="34" charset="0"/>
                <a:cs typeface="Arial" panose="020B0604020202020204" pitchFamily="34" charset="0"/>
              </a:rPr>
              <a:t>Human Resources (Talent Acquisition):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Automated technical screening and initial candidate shortlisting.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0200" marR="5080" indent="-317500">
              <a:lnSpc>
                <a:spcPts val="2300"/>
              </a:lnSpc>
              <a:spcBef>
                <a:spcPts val="260"/>
              </a:spcBef>
              <a:buChar char="•"/>
              <a:tabLst>
                <a:tab pos="330200" algn="l"/>
              </a:tabLst>
            </a:pPr>
            <a:r>
              <a:rPr sz="1800" b="1" dirty="0">
                <a:latin typeface="Arial" panose="020B0604020202020204" pitchFamily="34" charset="0"/>
                <a:cs typeface="Arial" panose="020B0604020202020204" pitchFamily="34" charset="0"/>
              </a:rPr>
              <a:t>EdTech &amp; Higher Education: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Secure, context-aware remote proctoring for online exams and credentialing.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0200" marR="5080" indent="-317500">
              <a:lnSpc>
                <a:spcPct val="150000"/>
              </a:lnSpc>
              <a:spcBef>
                <a:spcPts val="260"/>
              </a:spcBef>
              <a:buChar char="•"/>
              <a:tabLst>
                <a:tab pos="330200" algn="l"/>
              </a:tabLst>
            </a:pPr>
            <a:r>
              <a:rPr sz="1800" b="1" dirty="0">
                <a:latin typeface="Arial" panose="020B0604020202020204" pitchFamily="34" charset="0"/>
                <a:cs typeface="Arial" panose="020B0604020202020204" pitchFamily="34" charset="0"/>
              </a:rPr>
              <a:t>Corporate </a:t>
            </a:r>
            <a:r>
              <a:rPr sz="1800" b="1" dirty="0">
                <a:latin typeface="Arial" panose="020B0604020202020204" pitchFamily="34" charset="0"/>
                <a:cs typeface="Arial" panose="020B0604020202020204" pitchFamily="34" charset="0"/>
              </a:rPr>
              <a:t>Compliance: </a:t>
            </a: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Evaluating employee engagement and comprehension during mandatory remote training.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8628" y="3809889"/>
            <a:ext cx="490590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 MT"/>
                <a:cs typeface="Arial" panose="020B0604020202020204"/>
              </a:rPr>
              <a:t>Dataset</a:t>
            </a:r>
            <a:r>
              <a:rPr sz="2400" b="1" spc="-55" dirty="0">
                <a:latin typeface="Arial MT"/>
                <a:cs typeface="Arial" panose="020B0604020202020204"/>
              </a:rPr>
              <a:t> </a:t>
            </a:r>
            <a:r>
              <a:rPr sz="2400" b="1" dirty="0">
                <a:latin typeface="Arial MT"/>
                <a:cs typeface="Arial" panose="020B0604020202020204"/>
              </a:rPr>
              <a:t>and</a:t>
            </a:r>
            <a:r>
              <a:rPr sz="2400" b="1" spc="-55" dirty="0">
                <a:latin typeface="Arial MT"/>
                <a:cs typeface="Arial" panose="020B0604020202020204"/>
              </a:rPr>
              <a:t> </a:t>
            </a:r>
            <a:r>
              <a:rPr sz="2400" b="1" dirty="0">
                <a:latin typeface="Arial MT"/>
                <a:cs typeface="Arial" panose="020B0604020202020204"/>
              </a:rPr>
              <a:t>Input</a:t>
            </a:r>
            <a:r>
              <a:rPr sz="2400" b="1" spc="-50" dirty="0">
                <a:latin typeface="Arial MT"/>
                <a:cs typeface="Arial" panose="020B0604020202020204"/>
              </a:rPr>
              <a:t> </a:t>
            </a:r>
            <a:r>
              <a:rPr sz="2400" b="1" spc="-10" dirty="0">
                <a:latin typeface="Arial MT"/>
                <a:cs typeface="Arial" panose="020B0604020202020204"/>
              </a:rPr>
              <a:t>Format</a:t>
            </a:r>
            <a:endParaRPr sz="2400" dirty="0">
              <a:latin typeface="Arial MT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418" y="4270035"/>
            <a:ext cx="9652000" cy="21767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30200" marR="5080" indent="-317500">
              <a:lnSpc>
                <a:spcPts val="2300"/>
              </a:lnSpc>
              <a:spcBef>
                <a:spcPts val="260"/>
              </a:spcBef>
              <a:buChar char="•"/>
              <a:tabLst>
                <a:tab pos="330200" algn="l"/>
              </a:tabLst>
            </a:pPr>
            <a:r>
              <a:rPr lang="en-IN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Pretrained </a:t>
            </a:r>
            <a:r>
              <a:rPr sz="1800" b="1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n-IN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8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87400" marR="5080" lvl="1" indent="-317500">
              <a:lnSpc>
                <a:spcPts val="2300"/>
              </a:lnSpc>
              <a:spcBef>
                <a:spcPts val="260"/>
              </a:spcBef>
              <a:buChar char="•"/>
              <a:tabLst>
                <a:tab pos="330200" algn="l"/>
              </a:tabLst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COCO Dataset (80 classes) used for YOLOv8n object detection.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87400" marR="5080" lvl="1" indent="-317500">
              <a:lnSpc>
                <a:spcPts val="2300"/>
              </a:lnSpc>
              <a:spcBef>
                <a:spcPts val="260"/>
              </a:spcBef>
              <a:buChar char="•"/>
              <a:tabLst>
                <a:tab pos="330200" algn="l"/>
              </a:tabLst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MediaPipe 3D Synthetic Face Model (canonical 3D facial coordinates in mm).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87400" marR="5080" lvl="1" indent="-317500">
              <a:lnSpc>
                <a:spcPts val="2300"/>
              </a:lnSpc>
              <a:spcBef>
                <a:spcPts val="260"/>
              </a:spcBef>
              <a:buChar char="•"/>
              <a:tabLst>
                <a:tab pos="330200" algn="l"/>
              </a:tabLst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WIDER FACE dataset used in OpenCV YuNet training.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0200" marR="5080" indent="-317500">
              <a:lnSpc>
                <a:spcPct val="150000"/>
              </a:lnSpc>
              <a:spcBef>
                <a:spcPts val="260"/>
              </a:spcBef>
              <a:buChar char="•"/>
              <a:tabLst>
                <a:tab pos="330200" algn="l"/>
              </a:tabLst>
            </a:pPr>
            <a:r>
              <a:t>Input: Live camera feed via HTML5 MediaDevices (640 × 480 JPEG canvas snapshots streamed via Socket.IO/WebRTC at 2 FPS (500ms intervals))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43000" y="402751"/>
            <a:ext cx="951657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 MT"/>
              </a:rPr>
              <a:t>Literature</a:t>
            </a:r>
            <a:r>
              <a:rPr sz="3600" spc="-55" dirty="0"/>
              <a:t> </a:t>
            </a:r>
            <a:r>
              <a:rPr sz="3600" spc="-10" dirty="0"/>
              <a:t>Review</a:t>
            </a:r>
            <a:endParaRPr sz="36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62109" y="1371600"/>
            <a:ext cx="10650000" cy="4571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2400" b="1" dirty="0">
                <a:latin typeface="Arial" panose="020B0604020202020204"/>
                <a:cs typeface="Arial" panose="020B0604020202020204"/>
              </a:rPr>
              <a:t>Vision-Based Behavior &amp; Gaze Analysis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12700">
              <a:spcBef>
                <a:spcPts val="1770"/>
              </a:spcBef>
            </a:pPr>
            <a:r>
              <a:rPr sz="1800" b="1" i="1" dirty="0">
                <a:latin typeface="Arial" panose="020B0604020202020204" pitchFamily="34" charset="0"/>
                <a:cs typeface="Arial" panose="020B0604020202020204" pitchFamily="34" charset="0"/>
              </a:rPr>
              <a:t>Multi-Task Anomaly Detection (Huy et al.</a:t>
            </a:r>
            <a:r>
              <a:rPr lang="en-IN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62305" indent="-192405">
              <a:buSzPct val="94000"/>
              <a:buChar char="•"/>
              <a:tabLst>
                <a:tab pos="662305" algn="l"/>
              </a:tabLst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Decouples spatial object detection (YOLOv12) from temporal behavior classification (frame-wise CNNs).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62305" indent="-192405">
              <a:buSzPct val="94000"/>
              <a:buChar char="•"/>
              <a:tabLst>
                <a:tab pos="662305" algn="l"/>
              </a:tabLst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Achieves 97.15% overall accuracy, outperforming sequence models on brief cues.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62305" indent="-192405">
              <a:buSzPct val="94000"/>
              <a:buChar char="•"/>
              <a:tabLst>
                <a:tab pos="662305" algn="l"/>
              </a:tabLst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Avoids “temporal dilution,” a key weakness of sequence-based approaches.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spcBef>
                <a:spcPts val="1770"/>
              </a:spcBef>
            </a:pPr>
            <a:r>
              <a:rPr sz="1800" b="1" i="1" dirty="0">
                <a:latin typeface="Arial" panose="020B0604020202020204" pitchFamily="34" charset="0"/>
                <a:cs typeface="Arial" panose="020B0604020202020204" pitchFamily="34" charset="0"/>
              </a:rPr>
              <a:t>Proctor Net (Tejaswi et al.)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62305" indent="-192405">
              <a:buSzPct val="94000"/>
              <a:buChar char="•"/>
              <a:tabLst>
                <a:tab pos="662305" algn="l"/>
              </a:tabLst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Maps 3D eye gaze via stacked Hourglass models.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62305" indent="-192405">
              <a:buSzPct val="94000"/>
              <a:buChar char="•"/>
              <a:tabLst>
                <a:tab pos="662305" algn="l"/>
              </a:tabLst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Tracks verbal communication using a Mouth Aspect Ratio (MAR) heuristic.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62305" indent="-192405">
              <a:buSzPct val="94000"/>
              <a:buChar char="•"/>
              <a:tabLst>
                <a:tab pos="662305" algn="l"/>
              </a:tabLst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Serves as a robust architectural baseline for our system.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spcBef>
                <a:spcPts val="1770"/>
              </a:spcBef>
            </a:pPr>
            <a:r>
              <a:rPr sz="1800" b="1" i="1" dirty="0">
                <a:latin typeface="Arial" panose="020B0604020202020204" pitchFamily="34" charset="0"/>
                <a:cs typeface="Arial" panose="020B0604020202020204" pitchFamily="34" charset="0"/>
              </a:rPr>
              <a:t>Gaze Generalization Limits (Ghosh et al.)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62305" indent="-192405">
              <a:buSzPct val="94000"/>
              <a:buChar char="•"/>
              <a:tabLst>
                <a:tab pos="662305" algn="l"/>
              </a:tabLst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Highlights generalization gaps in deep gaze models under unconstrained environments.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62305" indent="-192405">
              <a:buSzPct val="94000"/>
              <a:buChar char="•"/>
              <a:tabLst>
                <a:tab pos="662305" algn="l"/>
              </a:tabLst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Emphasizes head-pose integration and personalized calibration to reduce angular error.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71800" y="390446"/>
            <a:ext cx="62484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 MT"/>
              </a:rPr>
              <a:t>Literature</a:t>
            </a:r>
            <a:r>
              <a:rPr sz="3600" spc="-55" dirty="0"/>
              <a:t> </a:t>
            </a:r>
            <a:r>
              <a:rPr sz="3600" spc="-10" dirty="0"/>
              <a:t>Review</a:t>
            </a:r>
            <a:endParaRPr sz="36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71000" y="1600200"/>
            <a:ext cx="10650000" cy="414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 MT"/>
                <a:cs typeface="Arial" panose="020B0604020202020204"/>
              </a:rPr>
              <a:t>Multimodal &amp; Human-in-the-Loop Systems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2020"/>
              </a:lnSpc>
              <a:spcBef>
                <a:spcPts val="1770"/>
              </a:spcBef>
            </a:pPr>
            <a:r>
              <a:rPr sz="1800" b="1" i="1" dirty="0">
                <a:latin typeface="Arial" panose="020B0604020202020204" pitchFamily="34" charset="0"/>
                <a:cs typeface="Arial" panose="020B0604020202020204" pitchFamily="34" charset="0"/>
              </a:rPr>
              <a:t>Explainable Fusion Framework (Kassab et al.)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62305" indent="-192405">
              <a:lnSpc>
                <a:spcPts val="2000"/>
              </a:lnSpc>
              <a:buSzPct val="94000"/>
              <a:buChar char="•"/>
              <a:tabLst>
                <a:tab pos="662305" algn="l"/>
              </a:tabLst>
            </a:pPr>
            <a:r>
              <a:t>Ante-hoc explainable framework fusing temporal visual tracking with structured anomaly evaluation.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62305" indent="-192405">
              <a:lnSpc>
                <a:spcPts val="2000"/>
              </a:lnSpc>
              <a:buSzPct val="94000"/>
              <a:buChar char="•"/>
              <a:tabLst>
                <a:tab pos="662305" algn="l"/>
              </a:tabLst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Replaces black-box classifiers with transparent constructs that separate cognitive effort from anomalies.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2020"/>
              </a:lnSpc>
              <a:spcBef>
                <a:spcPts val="1770"/>
              </a:spcBef>
            </a:pPr>
            <a:r>
              <a:rPr sz="1800" b="1" i="1" dirty="0">
                <a:latin typeface="Arial" panose="020B0604020202020204" pitchFamily="34" charset="0"/>
                <a:cs typeface="Arial" panose="020B0604020202020204" pitchFamily="34" charset="0"/>
              </a:rPr>
              <a:t>Hybrid Human-ML Decision Framework (Shih et al.)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62305" indent="-192405">
              <a:lnSpc>
                <a:spcPts val="2000"/>
              </a:lnSpc>
              <a:buSzPct val="94000"/>
              <a:buChar char="•"/>
              <a:tabLst>
                <a:tab pos="662305" algn="l"/>
              </a:tabLst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Maps predicted gaze vectors onto interactive 2D plots for human review.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62305" indent="-192405">
              <a:lnSpc>
                <a:spcPts val="2000"/>
              </a:lnSpc>
              <a:buSzPct val="94000"/>
              <a:buChar char="•"/>
              <a:tabLst>
                <a:tab pos="662305" algn="l"/>
              </a:tabLst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Prevents ML-only false positives caused by natural cognitive reflection.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2020"/>
              </a:lnSpc>
              <a:spcBef>
                <a:spcPts val="1770"/>
              </a:spcBef>
            </a:pPr>
            <a:r>
              <a:rPr sz="1800" b="1" i="1" dirty="0">
                <a:latin typeface="Arial" panose="020B0604020202020204" pitchFamily="34" charset="0"/>
                <a:cs typeface="Arial" panose="020B0604020202020204" pitchFamily="34" charset="0"/>
              </a:rPr>
              <a:t>Real-Time Full-Stack Blueprint (Dhawale et al.)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62305" indent="-192405">
              <a:lnSpc>
                <a:spcPts val="2000"/>
              </a:lnSpc>
              <a:buSzPct val="94000"/>
              <a:buChar char="•"/>
              <a:tabLst>
                <a:tab pos="662305" algn="l"/>
              </a:tabLst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Integrates video streaming, coding environments, and client-side neural networks (face-api.js) in a MERN stack.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62305" indent="-192405">
              <a:lnSpc>
                <a:spcPts val="2000"/>
              </a:lnSpc>
              <a:buSzPct val="94000"/>
              <a:buChar char="•"/>
              <a:tabLst>
                <a:tab pos="662305" algn="l"/>
              </a:tabLst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Maintains sub-100ms latency while preserving biometric privacy.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71800" y="390446"/>
            <a:ext cx="62484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 MT"/>
              </a:rPr>
              <a:t>Literature</a:t>
            </a:r>
            <a:r>
              <a:rPr sz="3600" spc="-55" dirty="0"/>
              <a:t> </a:t>
            </a:r>
            <a:r>
              <a:rPr sz="3600" spc="-10" dirty="0"/>
              <a:t>Review</a:t>
            </a:r>
            <a:endParaRPr sz="36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71000" y="1371600"/>
            <a:ext cx="1065000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2400" b="1" dirty="0">
                <a:latin typeface="Arial MT"/>
                <a:cs typeface="Arial" panose="020B0604020202020204"/>
              </a:rPr>
              <a:t>SWOT ANALYSIS</a:t>
            </a:r>
            <a:endParaRPr sz="2000" dirty="0">
              <a:latin typeface="Arial MT"/>
              <a:cs typeface="Arial MT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1866265" y="2209800"/>
          <a:ext cx="8507730" cy="358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3865"/>
                <a:gridCol w="4253865"/>
              </a:tblGrid>
              <a:tr h="19469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Strengths</a:t>
                      </a:r>
                      <a:endParaRPr lang="en-US" altLang="en-US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b="0"/>
                        <a:t>Temporal smoothing prevents false alarms</a:t>
                      </a:r>
                      <a:endParaRPr lang="en-US" altLang="en-US" b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altLang="en-US" b="0"/>
                        <a:t>E</a:t>
                      </a:r>
                      <a:r>
                        <a:rPr lang="en-US" altLang="en-US" b="0"/>
                        <a:t>xplainable audit logs</a:t>
                      </a:r>
                      <a:endParaRPr lang="en-US" altLang="en-US" b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altLang="en-US" b="0"/>
                        <a:t>L</a:t>
                      </a:r>
                      <a:r>
                        <a:rPr lang="en-US" altLang="en-US" b="0"/>
                        <a:t>ightweight edge models</a:t>
                      </a:r>
                      <a:endParaRPr lang="en-US" altLang="en-US" b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altLang="en-US" b="0"/>
                        <a:t>F</a:t>
                      </a:r>
                      <a:r>
                        <a:rPr lang="en-US" altLang="en-US" b="0"/>
                        <a:t>air 3-strike rule with cooldown.</a:t>
                      </a:r>
                      <a:endParaRPr lang="en-US" altLang="en-US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Weaknesses</a:t>
                      </a:r>
                      <a:endParaRPr lang="en-US" altLang="en-US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b="0"/>
                        <a:t>Dependent on webcam lighting and stable network connection for frame transmission.</a:t>
                      </a:r>
                      <a:endParaRPr lang="en-US" altLang="en-US" b="0"/>
                    </a:p>
                  </a:txBody>
                  <a:tcPr/>
                </a:tc>
              </a:tr>
              <a:tr h="16395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1"/>
                        <a:t>Opportunities</a:t>
                      </a:r>
                      <a:endParaRPr lang="en-US" altLang="en-US" b="1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b="0"/>
                        <a:t>Audio speaker diarization integration</a:t>
                      </a:r>
                      <a:r>
                        <a:rPr lang="en-IN" altLang="en-US" b="0"/>
                        <a:t>.</a:t>
                      </a:r>
                      <a:endParaRPr lang="en-US" altLang="en-US" b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altLang="en-US" b="0"/>
                        <a:t>M</a:t>
                      </a:r>
                      <a:r>
                        <a:rPr lang="en-US" altLang="en-US" b="0"/>
                        <a:t>ulti-lingual candidate speech evaluation</a:t>
                      </a:r>
                      <a:r>
                        <a:rPr lang="en-IN" altLang="en-US" b="0"/>
                        <a:t>.</a:t>
                      </a:r>
                      <a:endParaRPr lang="en-US" altLang="en-US" b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altLang="en-US" b="0"/>
                        <a:t>I</a:t>
                      </a:r>
                      <a:r>
                        <a:rPr lang="en-US" altLang="en-US" b="0"/>
                        <a:t>ntegration with Canvas/Moodle LMS.</a:t>
                      </a:r>
                      <a:endParaRPr lang="en-US" altLang="en-US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1"/>
                        <a:t>Threats</a:t>
                      </a:r>
                      <a:endParaRPr lang="en-US" altLang="en-US" b="1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b="0"/>
                        <a:t>Sophisticated hardware bypasses (HDMI splitters, smart glasses).</a:t>
                      </a:r>
                      <a:endParaRPr lang="en-US" altLang="en-US" b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01467" y="517232"/>
            <a:ext cx="421944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Arial MT"/>
              </a:rPr>
              <a:t>Objectives</a:t>
            </a:r>
            <a:endParaRPr sz="3600" spc="-10" dirty="0">
              <a:latin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524000"/>
            <a:ext cx="9593580" cy="459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t>Develop a context-aware proctoring model using real-time video streams and browser-level event monitoring.</a:t>
            </a:r>
            <a:endParaRPr lang="en-IN" sz="22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Detect </a:t>
            </a:r>
            <a:r>
              <a:rPr lang="en-IN" sz="2200" b="1" dirty="0"/>
              <a:t>suspicious testing behaviours</a:t>
            </a:r>
            <a:r>
              <a:rPr lang="en-IN" sz="2200" dirty="0"/>
              <a:t> while minimizing false </a:t>
            </a:r>
            <a:r>
              <a:rPr lang="en-IN" sz="2200" dirty="0">
                <a:latin typeface="Arial MT"/>
              </a:rPr>
              <a:t>positives</a:t>
            </a:r>
            <a:r>
              <a:rPr lang="en-IN" sz="2200" dirty="0"/>
              <a:t> caused by natural cognitive effort.</a:t>
            </a:r>
            <a:endParaRPr lang="en-IN" sz="22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/>
              <a:t>Provide </a:t>
            </a:r>
            <a:r>
              <a:rPr lang="en-US" altLang="en-US" sz="2200" b="1" dirty="0"/>
              <a:t>context-aware temporal reasoning</a:t>
            </a:r>
            <a:r>
              <a:rPr lang="en-US" altLang="en-US" sz="2200" dirty="0"/>
              <a:t> for explainable evaluation of candidate testing behavior and exam integrity.</a:t>
            </a:r>
            <a:endParaRPr lang="en-US" altLang="en-US" sz="22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Provide a </a:t>
            </a:r>
            <a:r>
              <a:rPr lang="en-IN" sz="2200" b="1" dirty="0"/>
              <a:t>secure full-stack web prototype</a:t>
            </a:r>
            <a:r>
              <a:rPr lang="en-IN" sz="2200" dirty="0"/>
              <a:t> with an interpretable recruiter dashboard.</a:t>
            </a:r>
            <a:endParaRPr lang="en-IN" sz="2200" dirty="0"/>
          </a:p>
          <a:p>
            <a:pPr marL="355600" marR="5080" indent="-34290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sz="2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24007" y="511140"/>
            <a:ext cx="394398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Arial MT"/>
              </a:rPr>
              <a:t>Methodology</a:t>
            </a:r>
            <a:endParaRPr sz="3600" spc="-10" dirty="0">
              <a:latin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7700" y="1218932"/>
            <a:ext cx="10896600" cy="4891258"/>
          </a:xfrm>
          <a:prstGeom prst="rect">
            <a:avLst/>
          </a:prstGeom>
        </p:spPr>
        <p:txBody>
          <a:bodyPr vert="horz" wrap="square" lIns="0" tIns="6858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Arial MT"/>
              </a:rPr>
              <a:t>Reference Software Model:- </a:t>
            </a:r>
            <a:endParaRPr lang="en-IN" sz="2000" b="1" dirty="0">
              <a:latin typeface="Arial MT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Arial MT"/>
              </a:rPr>
              <a:t>Process Model: </a:t>
            </a:r>
            <a:r>
              <a:rPr lang="en-US" altLang="en-US" sz="1800" b="0" dirty="0">
                <a:latin typeface="Arial MT"/>
              </a:rPr>
              <a:t>Iterative &amp; Incremental (Agile-Scrum Framework)</a:t>
            </a:r>
            <a:endParaRPr lang="en-US" altLang="en-US" sz="1800" b="0" dirty="0">
              <a:latin typeface="Arial MT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Arial MT"/>
              </a:rPr>
              <a:t>Sprint-based delivery with continuous empirical threshold tuning.</a:t>
            </a:r>
            <a:endParaRPr lang="en-US" altLang="en-US" sz="1800" b="0" dirty="0">
              <a:latin typeface="Arial MT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Arial MT"/>
              </a:rPr>
              <a:t>Early de-risking of computer vision pipelines before UI integration.</a:t>
            </a:r>
            <a:endParaRPr lang="en-US" altLang="en-US" sz="1800" b="0" dirty="0">
              <a:latin typeface="Arial MT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Arial MT"/>
              </a:rPr>
              <a:t>Architectural Style: </a:t>
            </a:r>
            <a:r>
              <a:rPr lang="en-US" altLang="en-US" sz="1800" b="0" dirty="0">
                <a:latin typeface="Arial MT"/>
              </a:rPr>
              <a:t>Decoupled Microservices &amp; Event-Driven Architecture (EDA)</a:t>
            </a:r>
            <a:endParaRPr lang="en-US" altLang="en-US" sz="1800" b="0" dirty="0">
              <a:latin typeface="Arial MT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Arial MT"/>
              </a:rPr>
              <a:t>Client Layer:</a:t>
            </a:r>
            <a:r>
              <a:rPr lang="en-US" altLang="en-US" sz="1800" b="0" dirty="0">
                <a:latin typeface="Arial MT"/>
              </a:rPr>
              <a:t> React 18 SPA with HTML5 camera capture, canvas streaming, and event monitoring.</a:t>
            </a:r>
            <a:endParaRPr lang="en-US" altLang="en-US" sz="1800" b="0" dirty="0">
              <a:latin typeface="Arial MT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Arial MT"/>
              </a:rPr>
              <a:t>Gateway Layer:</a:t>
            </a:r>
            <a:r>
              <a:rPr lang="en-US" altLang="en-US" sz="1800" b="0" dirty="0">
                <a:latin typeface="Arial MT"/>
              </a:rPr>
              <a:t> Node.js / Express 5 with Socket.IO room-based event dispatch.</a:t>
            </a:r>
            <a:endParaRPr lang="en-US" altLang="en-US" sz="1800" b="0" dirty="0">
              <a:latin typeface="Arial MT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Arial MT"/>
              </a:rPr>
              <a:t>AI Microservice:</a:t>
            </a:r>
            <a:r>
              <a:rPr lang="en-US" altLang="en-US" sz="1800" b="0" dirty="0">
                <a:latin typeface="Arial MT"/>
              </a:rPr>
              <a:t> Python FastAPI with a Pipes-and-Filters Vision DAG.</a:t>
            </a:r>
            <a:endParaRPr lang="en-US" altLang="en-US" sz="1800" b="0" dirty="0">
              <a:latin typeface="Arial MT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Arial MT"/>
              </a:rPr>
              <a:t>Persistence Layer:</a:t>
            </a:r>
            <a:r>
              <a:rPr lang="en-US" altLang="en-US" sz="1800" b="0" dirty="0">
                <a:latin typeface="Arial MT"/>
              </a:rPr>
              <a:t> MongoDB document store for test configurations and auditable anomaly logs.</a:t>
            </a:r>
            <a:endParaRPr lang="en-US" altLang="en-US" sz="1800" b="0" dirty="0">
              <a:latin typeface="Arial MT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Arial MT"/>
              </a:rPr>
              <a:t>State Machine Integration: </a:t>
            </a:r>
            <a:r>
              <a:rPr lang="en-US" altLang="en-US" sz="1800" b="0" dirty="0">
                <a:latin typeface="Arial MT"/>
              </a:rPr>
              <a:t>Automated 3-Strike Finite State Machine (FSM) with a 15-second fairness cooldown mechanism.</a:t>
            </a:r>
            <a:endParaRPr lang="en-US" altLang="en-US" sz="1800" b="0" dirty="0">
              <a:latin typeface="Arial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35786" y="67273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meline_gantt_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780" y="838200"/>
            <a:ext cx="9616440" cy="54413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24007" y="511140"/>
            <a:ext cx="394398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Arial MT"/>
              </a:rPr>
              <a:t>Methodology</a:t>
            </a:r>
            <a:endParaRPr sz="3600" spc="-10" dirty="0">
              <a:latin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7700" y="990332"/>
            <a:ext cx="10896600" cy="4891258"/>
          </a:xfrm>
          <a:prstGeom prst="rect">
            <a:avLst/>
          </a:prstGeom>
        </p:spPr>
        <p:txBody>
          <a:bodyPr vert="horz" wrap="square" lIns="0" tIns="6858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>
                <a:latin typeface="Arial MT"/>
              </a:rPr>
              <a:t>Working Module:</a:t>
            </a:r>
            <a:endParaRPr lang="en-IN" sz="1800" b="1" dirty="0">
              <a:latin typeface="Arial MT"/>
            </a:endParaRPr>
          </a:p>
          <a:p>
            <a:pPr marL="0" lv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t>Module 1: Client Examination &amp; Canvas Streamer (React 18)
5-Step Smart Check-In wizard; captures baseline biometric photos.</a:t>
            </a:r>
            <a:endParaRPr lang="en-US" alt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457200">
              <a:lnSpc>
                <a:spcPct val="150000"/>
              </a:lnSpc>
              <a:buFont typeface="Arial" panose="020B0604020202020204" pitchFamily="34" charset="0"/>
              <a:buNone/>
            </a:pPr>
            <a:r>
              <a:t>Ingests webcam feed; extracts 640×480 JPEG snapshots at 2 FPS; monitors tab switching &amp; full-screen exits.</a:t>
            </a:r>
            <a:endParaRPr lang="en-US" altLang="en-US" sz="15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Module 2: Socket.IO Gateway &amp; 3-Strike FSM (Node.js)</a:t>
            </a:r>
            <a:endParaRPr lang="en-US" alt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4572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500" b="0" dirty="0">
                <a:latin typeface="Arial" panose="020B0604020202020204" pitchFamily="34" charset="0"/>
                <a:cs typeface="Arial" panose="020B0604020202020204" pitchFamily="34" charset="0"/>
              </a:rPr>
              <a:t>Bidirectional room broker; executes the 3-strike state machine with a 15-second fairness cooldown; handles auto-</a:t>
            </a:r>
            <a:r>
              <a:rPr lang="en-IN" altLang="en-US" sz="1500" b="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1500" b="0" dirty="0">
                <a:latin typeface="Arial" panose="020B0604020202020204" pitchFamily="34" charset="0"/>
                <a:cs typeface="Arial" panose="020B0604020202020204" pitchFamily="34" charset="0"/>
              </a:rPr>
              <a:t>termination.</a:t>
            </a:r>
            <a:endParaRPr lang="en-US" altLang="en-US" sz="15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Module 3: Computer Vision Perception Pipeline (Python / OpenCV)</a:t>
            </a:r>
            <a:endParaRPr lang="en-US" alt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4572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500" b="0" dirty="0">
                <a:latin typeface="Arial" panose="020B0604020202020204" pitchFamily="34" charset="0"/>
                <a:cs typeface="Arial" panose="020B0604020202020204" pitchFamily="34" charset="0"/>
              </a:rPr>
              <a:t>Sequential execution of YuNet face detection, MediaPipe 478 mesh, solvePnP 3D head pose, iris gaze vectors, and </a:t>
            </a:r>
            <a:r>
              <a:rPr lang="en-IN" altLang="en-US" sz="1500" b="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1500" b="0" dirty="0">
                <a:latin typeface="Arial" panose="020B0604020202020204" pitchFamily="34" charset="0"/>
                <a:cs typeface="Arial" panose="020B0604020202020204" pitchFamily="34" charset="0"/>
              </a:rPr>
              <a:t>YOLOv8n </a:t>
            </a:r>
            <a:r>
              <a:rPr lang="en-IN" altLang="en-US" sz="1500" b="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1500" b="0" dirty="0">
                <a:latin typeface="Arial" panose="020B0604020202020204" pitchFamily="34" charset="0"/>
                <a:cs typeface="Arial" panose="020B0604020202020204" pitchFamily="34" charset="0"/>
              </a:rPr>
              <a:t>object detection.</a:t>
            </a:r>
            <a:endParaRPr lang="en-US" altLang="en-US" sz="15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Module 4: Temporal Reasoning &amp; Hysteresis Engine</a:t>
            </a:r>
            <a:endParaRPr lang="en-US" alt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4572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500" b="0" dirty="0">
                <a:latin typeface="Arial" panose="020B0604020202020204" pitchFamily="34" charset="0"/>
                <a:cs typeface="Arial" panose="020B0604020202020204" pitchFamily="34" charset="0"/>
              </a:rPr>
              <a:t>Debounced condition trackers + 30-second rolling sliding window; eliminates false alarms from natural cognitive pauses </a:t>
            </a:r>
            <a:r>
              <a:rPr lang="en-IN" altLang="en-US" sz="1500" b="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1500" b="0" dirty="0">
                <a:latin typeface="Arial" panose="020B0604020202020204" pitchFamily="34" charset="0"/>
                <a:cs typeface="Arial" panose="020B0604020202020204" pitchFamily="34" charset="0"/>
              </a:rPr>
              <a:t>(&lt;2.5s).</a:t>
            </a:r>
            <a:endParaRPr lang="en-US" altLang="en-US" sz="15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t>Module 5: Suspicion Scoring &amp; Identity Matching</a:t>
            </a:r>
            <a:endParaRPr lang="en-US" alt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457200">
              <a:lnSpc>
                <a:spcPct val="150000"/>
              </a:lnSpc>
              <a:buFont typeface="Arial" panose="020B0604020202020204" pitchFamily="34" charset="0"/>
              <a:buNone/>
            </a:pPr>
            <a:r>
              <a:t>Translates temporal violation ratios into a 0–100 score and cross-references live facial geometry against the check-in baseline.</a:t>
            </a:r>
            <a:endParaRPr lang="en-US" altLang="en-US" sz="15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Module 6: Educator Analytics &amp; Audit Trail (MongoDB / React)</a:t>
            </a:r>
            <a:endParaRPr lang="en-US" alt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500" b="0" dirty="0">
                <a:latin typeface="Arial" panose="020B0604020202020204" pitchFamily="34" charset="0"/>
                <a:cs typeface="Arial" panose="020B0604020202020204" pitchFamily="34" charset="0"/>
              </a:rPr>
              <a:t>Exam authoring, shareable link management, candidate grading, and chronological anomaly timeline review.</a:t>
            </a:r>
            <a:endParaRPr lang="en-US" altLang="en-US" sz="15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35786" y="67273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24007" y="511140"/>
            <a:ext cx="394398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Arial MT"/>
              </a:rPr>
              <a:t>Methodology</a:t>
            </a:r>
            <a:endParaRPr sz="3600" spc="-10" dirty="0">
              <a:latin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7700" y="1295132"/>
            <a:ext cx="10896600" cy="4891258"/>
          </a:xfrm>
          <a:prstGeom prst="rect">
            <a:avLst/>
          </a:prstGeom>
        </p:spPr>
        <p:txBody>
          <a:bodyPr vert="horz" wrap="square" lIns="0" tIns="68580" rIns="0" bIns="0" rtlCol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Arial MT"/>
              </a:rPr>
              <a:t>Attained Deliverable:</a:t>
            </a:r>
            <a:endParaRPr lang="en-IN" sz="2000" b="1" dirty="0">
              <a:latin typeface="Arial M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Multi-Model Computer Vision Pipeline: Real-time face detection (YuNet), 478-point landmark mesh (MediaPipe), 3D head pose via solvePnP, iris gaze tracking, and secondary device detection (YOLOv8n).</a:t>
            </a:r>
            <a:endParaRPr lang="en-US" altLang="en-US" sz="18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Temporal Reasoning Engine: 30-second sliding-window buffer that eliminates false alarms by distinguishing brief natural pauses (&lt;2.5s) from sustained malpractice (≥4s).</a:t>
            </a:r>
            <a:endParaRPr lang="en-US" altLang="en-US" sz="18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3-Strike Enforcement FSM: Real-time Socket.IO state machine featuring a 15-second fairness cooldown and automatic test termination on Strike 3.</a:t>
            </a:r>
            <a:endParaRPr lang="en-US" altLang="en-US" sz="18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Full-Stack Assessment Platform: Production-ready React 18 exam portal, Node.js/Express 5 REST API, and MongoDB educator dashboard with chronological audit timelines.</a:t>
            </a:r>
            <a:endParaRPr lang="en-US" altLang="en-US" sz="18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t>Ultra-Low Bandwidth Architecture: 1.5 FPS canvas frame streaming (640×480 JPEG) cutting bandwidth consumption by &gt;90% (&lt;30 KB/s) with sub-100ms inference latency.</a:t>
            </a:r>
            <a:endParaRPr lang="en-US" altLang="en-US" sz="1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35786" y="67273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24007" y="511140"/>
            <a:ext cx="394398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spc="-10" dirty="0">
                <a:latin typeface="Arial MT"/>
              </a:rPr>
              <a:t>Working Model</a:t>
            </a:r>
            <a:endParaRPr lang="en-IN" sz="3600" spc="-10" dirty="0">
              <a:latin typeface="Arial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35786" y="67273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 descr="technical_architecture_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447800"/>
            <a:ext cx="8839200" cy="50018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38600" y="588790"/>
            <a:ext cx="34137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40" algn="ctr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Arial MT"/>
              </a:rPr>
              <a:t>Reference</a:t>
            </a:r>
            <a:r>
              <a:rPr lang="en-US" sz="3600" spc="-10" dirty="0">
                <a:latin typeface="Arial MT"/>
              </a:rPr>
              <a:t>s</a:t>
            </a:r>
            <a:endParaRPr sz="3600" spc="-10" dirty="0">
              <a:latin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0" y="1447800"/>
            <a:ext cx="10325100" cy="5688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17000"/>
              </a:lnSpc>
              <a:spcBef>
                <a:spcPts val="100"/>
              </a:spcBef>
            </a:pPr>
            <a:r>
              <a:rPr lang="en-IN" dirty="0">
                <a:latin typeface="Arial MT"/>
                <a:cs typeface="Arial MT"/>
              </a:rPr>
              <a:t>1. K. Kassab, A. </a:t>
            </a:r>
            <a:r>
              <a:rPr lang="en-IN" dirty="0" err="1">
                <a:latin typeface="Arial MT"/>
                <a:cs typeface="Arial MT"/>
              </a:rPr>
              <a:t>Kashevnik</a:t>
            </a:r>
            <a:r>
              <a:rPr lang="en-IN" dirty="0">
                <a:latin typeface="Arial MT"/>
                <a:cs typeface="Arial MT"/>
              </a:rPr>
              <a:t>, and I. </a:t>
            </a:r>
            <a:r>
              <a:rPr lang="en-IN" dirty="0" err="1">
                <a:latin typeface="Arial MT"/>
                <a:cs typeface="Arial MT"/>
              </a:rPr>
              <a:t>Shoshina</a:t>
            </a:r>
            <a:r>
              <a:rPr lang="en-IN" dirty="0">
                <a:latin typeface="Arial MT"/>
                <a:cs typeface="Arial MT"/>
              </a:rPr>
              <a:t>, "Multi-Modal Method for Candidate Interview Assessment Based on Computer Vision and Large Language Models," Big Data </a:t>
            </a:r>
            <a:r>
              <a:rPr lang="en-IN" dirty="0" err="1">
                <a:latin typeface="Arial MT"/>
                <a:cs typeface="Arial MT"/>
              </a:rPr>
              <a:t>Cogn</a:t>
            </a:r>
            <a:r>
              <a:rPr lang="en-IN" dirty="0">
                <a:latin typeface="Arial MT"/>
                <a:cs typeface="Arial MT"/>
              </a:rPr>
              <a:t>. </a:t>
            </a:r>
            <a:r>
              <a:rPr lang="en-IN" dirty="0" err="1">
                <a:latin typeface="Arial MT"/>
                <a:cs typeface="Arial MT"/>
              </a:rPr>
              <a:t>Comput</a:t>
            </a:r>
            <a:r>
              <a:rPr lang="en-IN" dirty="0">
                <a:latin typeface="Arial MT"/>
                <a:cs typeface="Arial MT"/>
              </a:rPr>
              <a:t>., vol. 10, no. 4, 106, 2026. </a:t>
            </a:r>
            <a:endParaRPr lang="en-IN" dirty="0">
              <a:latin typeface="Arial MT"/>
              <a:cs typeface="Arial MT"/>
            </a:endParaRPr>
          </a:p>
          <a:p>
            <a:pPr marL="12700">
              <a:lnSpc>
                <a:spcPct val="117000"/>
              </a:lnSpc>
              <a:spcBef>
                <a:spcPts val="100"/>
              </a:spcBef>
            </a:pPr>
            <a:r>
              <a:rPr lang="en-IN" dirty="0">
                <a:latin typeface="Arial MT"/>
                <a:cs typeface="Arial MT"/>
              </a:rPr>
              <a:t>2. P. Tejaswi, S. </a:t>
            </a:r>
            <a:r>
              <a:rPr lang="en-IN" dirty="0" err="1">
                <a:latin typeface="Arial MT"/>
                <a:cs typeface="Arial MT"/>
              </a:rPr>
              <a:t>Venkatramaphanikumar</a:t>
            </a:r>
            <a:r>
              <a:rPr lang="en-IN" dirty="0">
                <a:latin typeface="Arial MT"/>
                <a:cs typeface="Arial MT"/>
              </a:rPr>
              <a:t>, and K. V. K. Kishore, "Proctor Net: An AI Framework for Suspicious Activity Detection in Online Proctored Examinations," Measurement, vol. 206, 112266, 2023. </a:t>
            </a:r>
            <a:endParaRPr lang="en-IN" dirty="0">
              <a:latin typeface="Arial MT"/>
              <a:cs typeface="Arial MT"/>
            </a:endParaRPr>
          </a:p>
          <a:p>
            <a:r>
              <a:rPr lang="en-IN" dirty="0">
                <a:latin typeface="Arial MT"/>
                <a:cs typeface="Arial MT"/>
              </a:rPr>
              <a:t>3. Y.-S. Shih, Z. Zhao, C. Niu, B. Iberg, J. Sharpnack, and M. B. Baig, "Al-assisted Gaze Detection for Proctoring Online Exams," </a:t>
            </a:r>
            <a:r>
              <a:rPr lang="en-IN" dirty="0" err="1">
                <a:latin typeface="Arial MT"/>
                <a:cs typeface="Arial MT"/>
              </a:rPr>
              <a:t>arXiv</a:t>
            </a:r>
            <a:r>
              <a:rPr lang="en-IN" dirty="0">
                <a:latin typeface="Arial MT"/>
                <a:cs typeface="Arial MT"/>
              </a:rPr>
              <a:t> preprint arXiv:2409.16923, 2024.</a:t>
            </a:r>
            <a:br>
              <a:rPr lang="en-IN" dirty="0">
                <a:latin typeface="Arial MT"/>
                <a:cs typeface="Arial MT"/>
              </a:rPr>
            </a:br>
            <a:r>
              <a:rPr lang="en-IN" dirty="0">
                <a:latin typeface="Arial MT"/>
                <a:cs typeface="Arial MT"/>
              </a:rPr>
              <a:t>4. </a:t>
            </a:r>
            <a:r>
              <a:rPr lang="en-IN" dirty="0"/>
              <a:t>E. Gülen and Y. Göktaş, "Facial expression recognition for investigating attention and affective states in synchronous online higher education," Education Technology Research and Development, 2026, </a:t>
            </a:r>
            <a:r>
              <a:rPr lang="en-IN" dirty="0" err="1"/>
              <a:t>doi</a:t>
            </a:r>
            <a:r>
              <a:rPr lang="en-IN" dirty="0"/>
              <a:t>: 10.1007/s11423-026-10631-0.</a:t>
            </a:r>
            <a:endParaRPr lang="en-IN" dirty="0"/>
          </a:p>
          <a:p>
            <a:r>
              <a:rPr lang="en-IN" dirty="0"/>
              <a:t>5. S. Ghosh, A. Dhall, M. Hayat, J. Knibbe, and Q. Ji, "Automatic Gaze Analysis: A Survey of Deep Learning Based Approaches," IEEE Transactions on Pattern Analysis and Machine Intelligence, vol. 46, no. 1, pp. 61-84, Jan. 2024, </a:t>
            </a:r>
            <a:r>
              <a:rPr lang="en-IN" dirty="0" err="1"/>
              <a:t>doi</a:t>
            </a:r>
            <a:r>
              <a:rPr lang="en-IN" dirty="0"/>
              <a:t>: 10.1109/TPAMI.2023.3321337.</a:t>
            </a:r>
            <a:endParaRPr lang="en-IN" dirty="0"/>
          </a:p>
          <a:p>
            <a:r>
              <a:rPr lang="en-IN" dirty="0"/>
              <a:t>6. S. Dhawale et al., "</a:t>
            </a:r>
            <a:r>
              <a:rPr lang="en-IN" dirty="0" err="1"/>
              <a:t>HireSafe</a:t>
            </a:r>
            <a:r>
              <a:rPr lang="en-IN" dirty="0"/>
              <a:t>: A Unified Platform for Meetings and Secure Technical Interviews," 2026 IEEE 1st International Conference on Intelligent Technologies for a Sustainable and Inclusive Future (ICITSIF), Indore, India, 2026, pp. 336-341, </a:t>
            </a:r>
            <a:r>
              <a:rPr lang="en-IN" dirty="0" err="1"/>
              <a:t>doi</a:t>
            </a:r>
            <a:r>
              <a:rPr lang="en-IN" dirty="0"/>
              <a:t>: 10.1109/ICITSIF69060.2026.11608440.</a:t>
            </a:r>
            <a:endParaRPr lang="en-IN" dirty="0"/>
          </a:p>
          <a:p>
            <a:pPr marL="12700">
              <a:lnSpc>
                <a:spcPct val="117000"/>
              </a:lnSpc>
              <a:spcBef>
                <a:spcPts val="100"/>
              </a:spcBef>
            </a:pPr>
            <a:endParaRPr lang="en-IN" dirty="0">
              <a:latin typeface="Arial MT"/>
              <a:cs typeface="Arial MT"/>
            </a:endParaRPr>
          </a:p>
          <a:p>
            <a:pPr marL="12700">
              <a:lnSpc>
                <a:spcPct val="117000"/>
              </a:lnSpc>
              <a:spcBef>
                <a:spcPts val="100"/>
              </a:spcBef>
            </a:pPr>
            <a:endParaRPr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88594" y="3537827"/>
            <a:ext cx="4974406" cy="1120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/>
              <a:t>Thank</a:t>
            </a:r>
            <a:r>
              <a:rPr lang="en-IN" sz="7200" dirty="0"/>
              <a:t> </a:t>
            </a:r>
            <a:r>
              <a:rPr sz="7200" spc="-515" dirty="0"/>
              <a:t>Y</a:t>
            </a:r>
            <a:r>
              <a:rPr sz="7200" spc="10" dirty="0"/>
              <a:t>ou</a:t>
            </a:r>
            <a:r>
              <a:rPr lang="en-US" sz="7200" spc="10" dirty="0"/>
              <a:t>!</a:t>
            </a:r>
            <a:endParaRPr sz="7200" dirty="0"/>
          </a:p>
        </p:txBody>
      </p:sp>
      <p:sp>
        <p:nvSpPr>
          <p:cNvPr id="3" name="object 3"/>
          <p:cNvSpPr/>
          <p:nvPr/>
        </p:nvSpPr>
        <p:spPr>
          <a:xfrm>
            <a:off x="10668000" y="150470"/>
            <a:ext cx="1381760" cy="683260"/>
          </a:xfrm>
          <a:custGeom>
            <a:avLst/>
            <a:gdLst/>
            <a:ahLst/>
            <a:cxnLst/>
            <a:rect l="l" t="t" r="r" b="b"/>
            <a:pathLst>
              <a:path w="1381759" h="683260">
                <a:moveTo>
                  <a:pt x="1381245" y="0"/>
                </a:moveTo>
                <a:lnTo>
                  <a:pt x="0" y="0"/>
                </a:lnTo>
                <a:lnTo>
                  <a:pt x="0" y="682906"/>
                </a:lnTo>
                <a:lnTo>
                  <a:pt x="1381245" y="682906"/>
                </a:lnTo>
                <a:lnTo>
                  <a:pt x="13812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344009" y="2061116"/>
            <a:ext cx="3452774" cy="11704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Core Technical Concepts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Technical Concepts:</a:t>
            </a:r>
          </a:p>
          <a:p/>
          <a:p>
            <a:r>
              <a:t>Multi-Metric Identity Verification: Live landmark-based geometric matching (inter-eye distance, face area, aspect ratio) against a baseline check-in photo.</a:t>
            </a:r>
          </a:p>
          <a:p>
            <a:r>
              <a:t>Face Localization: OpenCV YuNet (convolutional face detector via ONNX).</a:t>
            </a:r>
          </a:p>
          <a:p>
            <a:r>
              <a:t>Dense Mesh &amp; Iris Landmarks: MediaPipe FaceLandmarker with 478 3D vertices and Eye Aspect Ratio (EAR).</a:t>
            </a:r>
          </a:p>
          <a:p>
            <a:r>
              <a:t>Head Pose Estimation: Perspective-n-Point (PnP) algorithm with Levenberg-Marquardt optimization matching 2D facial anchors to a 3D anthropometric face model.</a:t>
            </a:r>
          </a:p>
          <a:p>
            <a:r>
              <a:t>Gaze Tracking: Dampened iris horizontal/vertical displacement ratios fused with 3D pose vectors.</a:t>
            </a:r>
          </a:p>
          <a:p>
            <a:r>
              <a:t>Unauthorized Object Detection: Ultralytics YOLOv8n (COCO object classification for phones, books, laptops, secondary persons).</a:t>
            </a:r>
          </a:p>
          <a:p>
            <a:r>
              <a:t>Temporal Event Tracking: Debounced condition state machine with a 30-second rolling sliding window.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8649</Words>
  <Application>WPS Presentation</Application>
  <PresentationFormat>Widescreen</PresentationFormat>
  <Paragraphs>172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SimSun</vt:lpstr>
      <vt:lpstr>Wingdings</vt:lpstr>
      <vt:lpstr>Arial</vt:lpstr>
      <vt:lpstr>Arial MT</vt:lpstr>
      <vt:lpstr>Calibri</vt:lpstr>
      <vt:lpstr>Microsoft YaHei</vt:lpstr>
      <vt:lpstr>Arial Unicode MS</vt:lpstr>
      <vt:lpstr>Office Theme</vt:lpstr>
      <vt:lpstr>Minor Project</vt:lpstr>
      <vt:lpstr>Table of Contents</vt:lpstr>
      <vt:lpstr>Introduction</vt:lpstr>
      <vt:lpstr>Introduction</vt:lpstr>
      <vt:lpstr>Introduction</vt:lpstr>
      <vt:lpstr>Literature Review</vt:lpstr>
      <vt:lpstr>Literature Review</vt:lpstr>
      <vt:lpstr>Literature Review</vt:lpstr>
      <vt:lpstr>Objectives</vt:lpstr>
      <vt:lpstr>Methodology</vt:lpstr>
      <vt:lpstr>PowerPoint 演示文稿</vt:lpstr>
      <vt:lpstr>Methodology</vt:lpstr>
      <vt:lpstr>Methodology</vt:lpstr>
      <vt:lpstr>Working Model</vt:lpstr>
      <vt:lpstr>References</vt:lpstr>
      <vt:lpstr>Thank-You!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Minor Project Presentation </dc:title>
  <dc:creator/>
  <cp:lastModifiedBy>Nishkarsh Gupta</cp:lastModifiedBy>
  <cp:revision>5</cp:revision>
  <dcterms:created xsi:type="dcterms:W3CDTF">2026-09-07T17:52:00Z</dcterms:created>
  <dcterms:modified xsi:type="dcterms:W3CDTF">2026-10-05T16:26:57Z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2026-02-13T11:00:00Z</vt:filetime>
  </property>
  <property fmtid="{D5CDD505-2E9C-101B-9397-08002B2CF9AE}" pid="4" name="Creator">
    <vt:lpwstr>Keynote</vt:lpwstr>
  </property>
  <property fmtid="{D5CDD505-2E9C-101B-9397-08002B2CF9AE}" pid="5" name="LastSaved">
    <vt:filetime>2026-09-07T11:00:00Z</vt:filetime>
  </property>
  <property fmtid="{D5CDD505-2E9C-101B-9397-08002B2CF9AE}" pid="6" name="Producer">
    <vt:lpwstr>macOS Version 26.2 (Build 25C56) Quartz PDFContext</vt:lpwstr>
  </property>
  <property fmtid="{D5CDD505-2E9C-101B-9397-08002B2CF9AE}" pid="7" name="KSOProductBuildVer">
    <vt:lpwstr>1033-12.1.0.28485</vt:lpwstr>
  </property>
  <property fmtid="{D5CDD505-2E9C-101B-9397-08002B2CF9AE}" pid="8" name="ICV">
    <vt:lpwstr>7CDC0D8C87964BF1AD65E233BB4DBA10_13</vt:lpwstr>
  </property>
</Properties>
</file>